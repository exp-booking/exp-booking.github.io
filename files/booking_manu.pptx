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256" r:id="rId3"/>
    <p:sldId id="259" r:id="rId5"/>
    <p:sldId id="258" r:id="rId6"/>
    <p:sldId id="257" r:id="rId7"/>
    <p:sldId id="263" r:id="rId8"/>
    <p:sldId id="269" r:id="rId9"/>
    <p:sldId id="262" r:id="rId10"/>
    <p:sldId id="271" r:id="rId11"/>
    <p:sldId id="272" r:id="rId12"/>
    <p:sldId id="273" r:id="rId13"/>
    <p:sldId id="265" r:id="rId14"/>
    <p:sldId id="268" r:id="rId15"/>
    <p:sldId id="266" r:id="rId16"/>
    <p:sldId id="26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5f77e426-c635-46b7-a76e-708ab5b3f5d4}">
          <p14:sldIdLst>
            <p14:sldId id="256"/>
          </p14:sldIdLst>
        </p14:section>
        <p14:section name="主试如何预约" id="{949b3004-6a25-4803-a57c-dc4d90f8c1a1}">
          <p14:sldIdLst>
            <p14:sldId id="259"/>
            <p14:sldId id="258"/>
            <p14:sldId id="257"/>
          </p14:sldIdLst>
        </p14:section>
        <p14:section name="如何让被试自助预约" id="{123481bd-0747-49fb-bf5c-e900397cbee3}">
          <p14:sldIdLst>
            <p14:sldId id="263"/>
            <p14:sldId id="269"/>
            <p14:sldId id="262"/>
            <p14:sldId id="271"/>
            <p14:sldId id="272"/>
            <p14:sldId id="273"/>
            <p14:sldId id="265"/>
          </p14:sldIdLst>
        </p14:section>
        <p14:section name="后台数据库操作" id="{8522c51a-0425-4001-bf56-6e7bd0782343}">
          <p14:sldIdLst>
            <p14:sldId id="268"/>
            <p14:sldId id="266"/>
            <p14:sldId id="267"/>
          </p14:sldIdLst>
        </p14:section>
        <p14:section name="设备参数" id="{e3ff10f2-893b-4feb-ac0c-911e9315a59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exp-booking.github.io/simple-booking/&#13;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预约系统使用手册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辽宁大学心理测试与行为分析实验室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sz="2800"/>
              <a:t>ver-</a:t>
            </a:r>
            <a:r>
              <a:rPr lang="en-US" sz="2800"/>
              <a:t>1.4</a:t>
            </a:r>
            <a:endParaRPr 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35" y="0"/>
            <a:ext cx="10208895" cy="6858000"/>
          </a:xfrm>
          <a:prstGeom prst="rect">
            <a:avLst/>
          </a:prstGeom>
        </p:spPr>
      </p:pic>
      <p:cxnSp>
        <p:nvCxnSpPr>
          <p:cNvPr id="6" name="直接箭头连接符 5"/>
          <p:cNvCxnSpPr>
            <a:stCxn id="7" idx="3"/>
          </p:cNvCxnSpPr>
          <p:nvPr/>
        </p:nvCxnSpPr>
        <p:spPr>
          <a:xfrm>
            <a:off x="3902710" y="2994660"/>
            <a:ext cx="548005" cy="6985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256155" y="2672080"/>
            <a:ext cx="16465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/>
                </a:solidFill>
              </a:rPr>
              <a:t>2.</a:t>
            </a:r>
            <a:r>
              <a:rPr lang="zh-CN" altLang="en-US">
                <a:solidFill>
                  <a:schemeClr val="accent2"/>
                </a:solidFill>
              </a:rPr>
              <a:t>请点击想要预约的实验室</a:t>
            </a:r>
            <a:endParaRPr lang="zh-CN" altLang="en-US">
              <a:solidFill>
                <a:schemeClr val="accent2"/>
              </a:solidFill>
            </a:endParaRPr>
          </a:p>
        </p:txBody>
      </p:sp>
      <p:cxnSp>
        <p:nvCxnSpPr>
          <p:cNvPr id="9" name="直接箭头连接符 8"/>
          <p:cNvCxnSpPr>
            <a:stCxn id="10" idx="2"/>
          </p:cNvCxnSpPr>
          <p:nvPr/>
        </p:nvCxnSpPr>
        <p:spPr>
          <a:xfrm>
            <a:off x="2880360" y="5086350"/>
            <a:ext cx="681990" cy="31750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510665" y="4718050"/>
            <a:ext cx="2738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/>
                </a:solidFill>
              </a:rPr>
              <a:t>1. </a:t>
            </a:r>
            <a:r>
              <a:rPr lang="zh-CN" altLang="en-US">
                <a:solidFill>
                  <a:schemeClr val="accent2"/>
                </a:solidFill>
              </a:rPr>
              <a:t>点击查看被试预约情况</a:t>
            </a: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78900" y="2192655"/>
            <a:ext cx="21221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3. </a:t>
            </a:r>
            <a:r>
              <a:rPr lang="zh-CN" altLang="en-US">
                <a:solidFill>
                  <a:schemeClr val="tx1"/>
                </a:solidFill>
              </a:rPr>
              <a:t>实验结束后记得登录</a:t>
            </a:r>
            <a:r>
              <a:rPr lang="en-US" altLang="zh-CN" b="1">
                <a:solidFill>
                  <a:srgbClr val="FF0000"/>
                </a:solidFill>
              </a:rPr>
              <a:t>supabase</a:t>
            </a:r>
            <a:r>
              <a:rPr lang="zh-CN" altLang="en-US">
                <a:solidFill>
                  <a:schemeClr val="tx1"/>
                </a:solidFill>
              </a:rPr>
              <a:t>删掉被试预约，预约里面有被试的个人信息！！！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2" name="直接箭头连接符 11"/>
          <p:cNvCxnSpPr>
            <a:stCxn id="13" idx="1"/>
          </p:cNvCxnSpPr>
          <p:nvPr/>
        </p:nvCxnSpPr>
        <p:spPr>
          <a:xfrm flipH="1">
            <a:off x="8675370" y="5624830"/>
            <a:ext cx="627380" cy="15176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302750" y="5086350"/>
            <a:ext cx="2115185" cy="1076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sz="1600">
                <a:solidFill>
                  <a:schemeClr val="tx1"/>
                </a:solidFill>
              </a:rPr>
              <a:t>知情同意只打印</a:t>
            </a:r>
            <a:r>
              <a:rPr lang="en-US" altLang="zh-CN" sz="1600">
                <a:solidFill>
                  <a:schemeClr val="tx1"/>
                </a:solidFill>
              </a:rPr>
              <a:t>“</a:t>
            </a:r>
            <a:r>
              <a:rPr lang="zh-CN" altLang="en-US" sz="1600">
                <a:solidFill>
                  <a:schemeClr val="tx1"/>
                </a:solidFill>
              </a:rPr>
              <a:t>双面打印版</a:t>
            </a:r>
            <a:r>
              <a:rPr lang="en-US" altLang="zh-CN" sz="1600">
                <a:solidFill>
                  <a:schemeClr val="tx1"/>
                </a:solidFill>
              </a:rPr>
              <a:t>”</a:t>
            </a:r>
            <a:r>
              <a:rPr lang="zh-CN" altLang="en-US" sz="1600">
                <a:solidFill>
                  <a:schemeClr val="tx1"/>
                </a:solidFill>
              </a:rPr>
              <a:t>即可。阅读部分我放各个实验间了，可以循环使用</a:t>
            </a:r>
            <a:endParaRPr lang="zh-CN" alt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屏幕截图 2026-03-10 1325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37795"/>
            <a:ext cx="11163300" cy="6581775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H="1" flipV="1">
            <a:off x="5756275" y="5129530"/>
            <a:ext cx="1048385" cy="10795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804660" y="4950460"/>
            <a:ext cx="3385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/>
                </a:solidFill>
              </a:rPr>
              <a:t>请点击想要预约的日期和时段</a:t>
            </a:r>
            <a:endParaRPr lang="zh-CN" altLang="en-US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595" y="156845"/>
            <a:ext cx="11306175" cy="65436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905885" y="4070350"/>
            <a:ext cx="4060825" cy="97599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234430" y="1316355"/>
            <a:ext cx="173228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2"/>
                </a:solidFill>
              </a:rPr>
              <a:t>填写预约人姓名，</a:t>
            </a:r>
            <a:endParaRPr lang="zh-CN" altLang="en-US" sz="1600">
              <a:solidFill>
                <a:schemeClr val="accent2"/>
              </a:solidFill>
            </a:endParaRPr>
          </a:p>
          <a:p>
            <a:r>
              <a:rPr lang="zh-CN" altLang="en-US" sz="1600">
                <a:solidFill>
                  <a:schemeClr val="accent2"/>
                </a:solidFill>
              </a:rPr>
              <a:t>谁去做实验写谁</a:t>
            </a: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08085" y="2171700"/>
            <a:ext cx="2613025" cy="13220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accent2"/>
                </a:solidFill>
              </a:rPr>
              <a:t>Pilot/</a:t>
            </a:r>
            <a:r>
              <a:rPr lang="zh-CN" altLang="en-US" sz="1600">
                <a:solidFill>
                  <a:schemeClr val="accent2"/>
                </a:solidFill>
              </a:rPr>
              <a:t>实验</a:t>
            </a:r>
            <a:r>
              <a:rPr lang="en-US" altLang="zh-CN" sz="1600">
                <a:solidFill>
                  <a:schemeClr val="accent2"/>
                </a:solidFill>
              </a:rPr>
              <a:t>/</a:t>
            </a:r>
            <a:r>
              <a:rPr lang="zh-CN" altLang="en-US" sz="1600">
                <a:solidFill>
                  <a:schemeClr val="accent2"/>
                </a:solidFill>
              </a:rPr>
              <a:t>程序测试</a:t>
            </a:r>
            <a:r>
              <a:rPr lang="en-US" altLang="zh-CN" sz="1600">
                <a:solidFill>
                  <a:schemeClr val="accent2"/>
                </a:solidFill>
              </a:rPr>
              <a:t>/</a:t>
            </a:r>
            <a:r>
              <a:rPr lang="zh-CN" altLang="en-US" sz="1600">
                <a:solidFill>
                  <a:schemeClr val="accent2"/>
                </a:solidFill>
              </a:rPr>
              <a:t>去干啥</a:t>
            </a:r>
            <a:endParaRPr lang="zh-CN" altLang="en-US" sz="1600">
              <a:solidFill>
                <a:schemeClr val="accent2"/>
              </a:solidFill>
            </a:endParaRPr>
          </a:p>
          <a:p>
            <a:r>
              <a:rPr lang="zh-CN" altLang="en-US" sz="1600">
                <a:solidFill>
                  <a:schemeClr val="accent2"/>
                </a:solidFill>
              </a:rPr>
              <a:t>就写啥</a:t>
            </a:r>
            <a:r>
              <a:rPr lang="en-US" altLang="zh-CN" sz="1600">
                <a:solidFill>
                  <a:schemeClr val="accent2"/>
                </a:solidFill>
              </a:rPr>
              <a:t>……</a:t>
            </a:r>
            <a:endParaRPr lang="en-US" altLang="zh-CN" sz="1600">
              <a:solidFill>
                <a:schemeClr val="accent2"/>
              </a:solidFill>
            </a:endParaRPr>
          </a:p>
          <a:p>
            <a:r>
              <a:rPr lang="zh-CN" altLang="en-US" sz="1600">
                <a:solidFill>
                  <a:schemeClr val="accent2"/>
                </a:solidFill>
              </a:rPr>
              <a:t>被试预约的话，此处让被试填他自己的姓名</a:t>
            </a:r>
            <a:endParaRPr lang="zh-CN" altLang="en-US" sz="1600">
              <a:solidFill>
                <a:schemeClr val="accent2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7902575" y="2824480"/>
            <a:ext cx="905510" cy="1270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7" idx="2"/>
          </p:cNvCxnSpPr>
          <p:nvPr/>
        </p:nvCxnSpPr>
        <p:spPr>
          <a:xfrm>
            <a:off x="7100570" y="1899920"/>
            <a:ext cx="9525" cy="320675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847455" y="4030980"/>
            <a:ext cx="2552700" cy="1076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2"/>
                </a:solidFill>
              </a:rPr>
              <a:t>看</a:t>
            </a:r>
            <a:r>
              <a:rPr lang="zh-CN" altLang="en-US" sz="1600" b="1">
                <a:solidFill>
                  <a:schemeClr val="accent2"/>
                </a:solidFill>
              </a:rPr>
              <a:t>页面左上角</a:t>
            </a:r>
            <a:r>
              <a:rPr lang="zh-CN" altLang="en-US" sz="1600">
                <a:solidFill>
                  <a:schemeClr val="accent2"/>
                </a:solidFill>
              </a:rPr>
              <a:t>，房间号只有</a:t>
            </a:r>
            <a:r>
              <a:rPr lang="en-US" altLang="zh-CN" sz="1600">
                <a:solidFill>
                  <a:schemeClr val="accent2"/>
                </a:solidFill>
              </a:rPr>
              <a:t>343</a:t>
            </a:r>
            <a:r>
              <a:rPr lang="zh-CN" altLang="en-US" sz="1600">
                <a:solidFill>
                  <a:schemeClr val="accent2"/>
                </a:solidFill>
              </a:rPr>
              <a:t>和</a:t>
            </a:r>
            <a:r>
              <a:rPr lang="en-US" altLang="zh-CN" sz="1600">
                <a:solidFill>
                  <a:schemeClr val="accent2"/>
                </a:solidFill>
              </a:rPr>
              <a:t>440</a:t>
            </a:r>
            <a:r>
              <a:rPr lang="zh-CN" altLang="en-US" sz="1600">
                <a:solidFill>
                  <a:schemeClr val="accent2"/>
                </a:solidFill>
              </a:rPr>
              <a:t>两个；实验间是</a:t>
            </a:r>
            <a:r>
              <a:rPr lang="en-US" altLang="zh-CN" sz="1600">
                <a:solidFill>
                  <a:schemeClr val="accent2"/>
                </a:solidFill>
              </a:rPr>
              <a:t>EEG</a:t>
            </a:r>
            <a:r>
              <a:rPr lang="zh-CN" altLang="en-US" sz="1600">
                <a:solidFill>
                  <a:schemeClr val="accent2"/>
                </a:solidFill>
              </a:rPr>
              <a:t>还是</a:t>
            </a:r>
            <a:r>
              <a:rPr lang="en-US" altLang="zh-CN" sz="1600">
                <a:solidFill>
                  <a:schemeClr val="accent2"/>
                </a:solidFill>
              </a:rPr>
              <a:t>fNRIS</a:t>
            </a:r>
            <a:r>
              <a:rPr lang="zh-CN" altLang="en-US" sz="1600">
                <a:solidFill>
                  <a:schemeClr val="accent2"/>
                </a:solidFill>
              </a:rPr>
              <a:t>还是其他的，直接填上去即可</a:t>
            </a:r>
            <a:endParaRPr lang="zh-CN" altLang="en-US" sz="1600">
              <a:solidFill>
                <a:schemeClr val="accent2"/>
              </a:solidFill>
            </a:endParaRPr>
          </a:p>
        </p:txBody>
      </p:sp>
      <p:cxnSp>
        <p:nvCxnSpPr>
          <p:cNvPr id="12" name="直接箭头连接符 11"/>
          <p:cNvCxnSpPr>
            <a:endCxn id="6" idx="3"/>
          </p:cNvCxnSpPr>
          <p:nvPr/>
        </p:nvCxnSpPr>
        <p:spPr>
          <a:xfrm flipH="1">
            <a:off x="7966710" y="4554220"/>
            <a:ext cx="880745" cy="4445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5365750" y="3493770"/>
            <a:ext cx="606425" cy="114935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973445" y="3321685"/>
            <a:ext cx="1435100" cy="3371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2"/>
                </a:solidFill>
              </a:rPr>
              <a:t>修改精确时段</a:t>
            </a: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17" name="右中括号 16"/>
          <p:cNvSpPr/>
          <p:nvPr/>
        </p:nvSpPr>
        <p:spPr>
          <a:xfrm>
            <a:off x="5231765" y="3321050"/>
            <a:ext cx="75565" cy="575310"/>
          </a:xfrm>
          <a:prstGeom prst="rightBracket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 flipH="1" flipV="1">
            <a:off x="7493635" y="5346065"/>
            <a:ext cx="194945" cy="43180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697855" y="5777865"/>
            <a:ext cx="400304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2"/>
                </a:solidFill>
              </a:rPr>
              <a:t>点击提交，系统提示成功且</a:t>
            </a:r>
            <a:r>
              <a:rPr lang="zh-CN" altLang="en-US" sz="1600" b="1">
                <a:solidFill>
                  <a:schemeClr val="bg1">
                    <a:lumMod val="50000"/>
                  </a:schemeClr>
                </a:solidFill>
              </a:rPr>
              <a:t>预约时段变灰</a:t>
            </a:r>
            <a:r>
              <a:rPr lang="zh-CN" altLang="en-US" sz="1600">
                <a:solidFill>
                  <a:schemeClr val="accent2"/>
                </a:solidFill>
              </a:rPr>
              <a:t>。</a:t>
            </a:r>
            <a:endParaRPr lang="zh-CN" altLang="en-US" sz="1600">
              <a:solidFill>
                <a:schemeClr val="accent2"/>
              </a:solidFill>
            </a:endParaRPr>
          </a:p>
          <a:p>
            <a:r>
              <a:rPr lang="zh-CN" altLang="en-US" sz="1600">
                <a:solidFill>
                  <a:schemeClr val="accent2"/>
                </a:solidFill>
              </a:rPr>
              <a:t>提交后不可修改，可再次点击取消预约</a:t>
            </a:r>
            <a:endParaRPr lang="zh-CN" altLang="en-US" sz="1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如何招募被试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en-US" altLang="zh-CN">
                <a:sym typeface="+mn-ea"/>
                <a:hlinkClick r:id="rId1" action="ppaction://hlinkfile"/>
              </a:rPr>
              <a:t>https://exp-booking.github.io/simple-booking/</a:t>
            </a:r>
            <a:endParaRPr lang="en-US" altLang="zh-CN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只能给被试这个链接</a:t>
            </a:r>
            <a:r>
              <a:rPr lang="zh-CN" altLang="en-US">
                <a:solidFill>
                  <a:schemeClr val="accent2"/>
                </a:solidFill>
                <a:sym typeface="+mn-ea"/>
              </a:rPr>
              <a:t>⬆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，该链接的</a:t>
            </a:r>
            <a:r>
              <a:rPr lang="zh-CN" altLang="en-US" b="1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二维码在下一页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，可以右键另存为。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通过该链接，被试只能访问被试专用预约系统（如果他们没手欠删了二级链接的话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……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0690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FF0000"/>
                </a:solidFill>
              </a:rPr>
              <a:t>自助预约</a:t>
            </a:r>
            <a:r>
              <a:rPr lang="zh-CN" altLang="en-US"/>
              <a:t>系统的二维码，不是咱网站的，可以给被试。</a:t>
            </a:r>
            <a:br>
              <a:rPr lang="zh-CN" altLang="en-US"/>
            </a:br>
            <a:r>
              <a:rPr lang="zh-CN" altLang="en-US"/>
              <a:t>右键另存为可保存。</a:t>
            </a:r>
            <a:endParaRPr lang="zh-CN" altLang="en-US"/>
          </a:p>
        </p:txBody>
      </p:sp>
      <p:pic>
        <p:nvPicPr>
          <p:cNvPr id="5" name="图片 4" descr="qrcode_被试自助预约系统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7785" y="2272030"/>
            <a:ext cx="428625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6575"/>
            <a:ext cx="12192000" cy="5784850"/>
          </a:xfrm>
          <a:prstGeom prst="rect">
            <a:avLst/>
          </a:prstGeom>
        </p:spPr>
      </p:pic>
      <p:cxnSp>
        <p:nvCxnSpPr>
          <p:cNvPr id="9" name="直接箭头连接符 8"/>
          <p:cNvCxnSpPr>
            <a:stCxn id="11" idx="3"/>
          </p:cNvCxnSpPr>
          <p:nvPr/>
        </p:nvCxnSpPr>
        <p:spPr>
          <a:xfrm>
            <a:off x="3676015" y="2458720"/>
            <a:ext cx="822325" cy="127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81355" y="1674495"/>
            <a:ext cx="2994660" cy="156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zh-CN" sz="1600">
                <a:solidFill>
                  <a:schemeClr val="tx1"/>
                </a:solidFill>
              </a:rPr>
              <a:t>知情同意书</a:t>
            </a:r>
            <a:r>
              <a:rPr lang="en-US" altLang="zh-CN" sz="1600">
                <a:solidFill>
                  <a:schemeClr val="tx1"/>
                </a:solidFill>
              </a:rPr>
              <a:t>2.0</a:t>
            </a:r>
            <a:r>
              <a:rPr lang="zh-CN" altLang="en-US" sz="1600">
                <a:solidFill>
                  <a:schemeClr val="tx1"/>
                </a:solidFill>
              </a:rPr>
              <a:t>版开始，《一般信息》和《知情同意》内容不分合在一起单分出来了一个</a:t>
            </a:r>
            <a:r>
              <a:rPr lang="zh-CN" altLang="en-US" sz="1600" b="1">
                <a:solidFill>
                  <a:srgbClr val="FF0000"/>
                </a:solidFill>
              </a:rPr>
              <a:t>线上版的《知情同意书》</a:t>
            </a:r>
            <a:r>
              <a:rPr lang="zh-CN" altLang="en-US" sz="1600">
                <a:solidFill>
                  <a:schemeClr val="tx1"/>
                </a:solidFill>
              </a:rPr>
              <a:t>。我也按照实验类型打印了，放各个实验间了。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446770" y="536575"/>
            <a:ext cx="2004060" cy="2306955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tx1"/>
                </a:solidFill>
                <a:sym typeface="+mn-ea"/>
              </a:rPr>
              <a:t>被试来了可以问看过线上版本没：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1. 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没有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就给他们看纸本的；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看过了直接给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2.0+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的打印版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的之情同意，直接签字就行。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6575"/>
            <a:ext cx="12192000" cy="57848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20090" y="4672965"/>
            <a:ext cx="3045460" cy="132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zh-CN" sz="1600">
                <a:solidFill>
                  <a:schemeClr val="tx1"/>
                </a:solidFill>
              </a:rPr>
              <a:t>【查看被试预约情况】</a:t>
            </a:r>
            <a:endParaRPr lang="zh-CN" sz="1600">
              <a:solidFill>
                <a:schemeClr val="tx1"/>
              </a:solidFill>
            </a:endParaRPr>
          </a:p>
          <a:p>
            <a:r>
              <a:rPr lang="en-US" altLang="zh-CN" sz="1600">
                <a:solidFill>
                  <a:schemeClr val="tx1"/>
                </a:solidFill>
              </a:rPr>
              <a:t>1. </a:t>
            </a:r>
            <a:r>
              <a:rPr lang="zh-CN" sz="1600">
                <a:solidFill>
                  <a:schemeClr val="tx1"/>
                </a:solidFill>
              </a:rPr>
              <a:t>点进去可查看哪个课题组有预约、以及被试姓名，</a:t>
            </a:r>
            <a:endParaRPr lang="zh-CN" sz="1600">
              <a:solidFill>
                <a:schemeClr val="tx1"/>
              </a:solidFill>
            </a:endParaRPr>
          </a:p>
          <a:p>
            <a:r>
              <a:rPr lang="en-US" altLang="zh-CN" sz="1600">
                <a:solidFill>
                  <a:schemeClr val="tx1"/>
                </a:solidFill>
              </a:rPr>
              <a:t>2. </a:t>
            </a:r>
            <a:r>
              <a:rPr lang="zh-CN" sz="1600">
                <a:solidFill>
                  <a:schemeClr val="tx1"/>
                </a:solidFill>
              </a:rPr>
              <a:t>建议查看宣布信息需要进入</a:t>
            </a:r>
            <a:r>
              <a:rPr lang="en-US" altLang="zh-CN" sz="1600">
                <a:solidFill>
                  <a:schemeClr val="tx1"/>
                </a:solidFill>
              </a:rPr>
              <a:t>supabase</a:t>
            </a:r>
            <a:r>
              <a:rPr lang="zh-CN" altLang="en-US" sz="1600">
                <a:solidFill>
                  <a:schemeClr val="tx1"/>
                </a:solidFill>
              </a:rPr>
              <a:t>后台看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3765550" y="5330190"/>
            <a:ext cx="1725930" cy="762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542020" y="1829435"/>
            <a:ext cx="3235960" cy="2030095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>
                <a:solidFill>
                  <a:schemeClr val="tx1"/>
                </a:solidFill>
                <a:sym typeface="+mn-ea"/>
              </a:rPr>
              <a:t>新版预约系统将四个课题组合并了。</a:t>
            </a:r>
            <a:endParaRPr lang="zh-CN">
              <a:solidFill>
                <a:schemeClr val="tx1"/>
              </a:solidFill>
              <a:sym typeface="+mn-ea"/>
            </a:endParaRPr>
          </a:p>
          <a:p>
            <a:r>
              <a:rPr lang="zh-CN">
                <a:solidFill>
                  <a:schemeClr val="tx1"/>
                </a:solidFill>
                <a:sym typeface="+mn-ea"/>
              </a:rPr>
              <a:t>另在被试填写的预约表中，增加了课题组选项这一项，可有效防止预约撞车。</a:t>
            </a:r>
            <a:endParaRPr lang="zh-CN">
              <a:solidFill>
                <a:schemeClr val="tx1"/>
              </a:solidFill>
              <a:sym typeface="+mn-ea"/>
            </a:endParaRPr>
          </a:p>
          <a:p>
            <a:r>
              <a:rPr lang="zh-CN" b="1">
                <a:solidFill>
                  <a:srgbClr val="FF0000"/>
                </a:solidFill>
                <a:sym typeface="+mn-ea"/>
              </a:rPr>
              <a:t>但还是需要大家及时去内部系统上预约上。</a:t>
            </a:r>
            <a:endParaRPr lang="zh-CN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6575"/>
            <a:ext cx="12192000" cy="57848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782175" y="4298315"/>
            <a:ext cx="2190115" cy="156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zh-CN" sz="1600">
                <a:solidFill>
                  <a:schemeClr val="tx1"/>
                </a:solidFill>
              </a:rPr>
              <a:t>预约能看见是哪个课题组的，以及被试姓名；</a:t>
            </a:r>
            <a:endParaRPr lang="zh-CN" sz="1600">
              <a:solidFill>
                <a:schemeClr val="tx1"/>
              </a:solidFill>
            </a:endParaRPr>
          </a:p>
          <a:p>
            <a:r>
              <a:rPr lang="zh-CN" sz="1600">
                <a:solidFill>
                  <a:schemeClr val="tx1"/>
                </a:solidFill>
              </a:rPr>
              <a:t>建议去</a:t>
            </a:r>
            <a:r>
              <a:rPr lang="en-US" altLang="zh-CN" sz="1600">
                <a:solidFill>
                  <a:schemeClr val="tx1"/>
                </a:solidFill>
              </a:rPr>
              <a:t>supabase</a:t>
            </a:r>
            <a:r>
              <a:rPr lang="zh-CN" altLang="en-US" sz="1600">
                <a:solidFill>
                  <a:schemeClr val="tx1"/>
                </a:solidFill>
              </a:rPr>
              <a:t>把被试名字改成姓氏</a:t>
            </a:r>
            <a:r>
              <a:rPr lang="en-US" altLang="zh-CN" sz="1600">
                <a:solidFill>
                  <a:schemeClr val="tx1"/>
                </a:solidFill>
              </a:rPr>
              <a:t>+XX</a:t>
            </a:r>
            <a:r>
              <a:rPr lang="zh-CN" altLang="en-US" sz="1600">
                <a:solidFill>
                  <a:schemeClr val="tx1"/>
                </a:solidFill>
              </a:rPr>
              <a:t>的格式，保护个人信息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9" name="直接箭头连接符 8"/>
          <p:cNvCxnSpPr>
            <a:stCxn id="11" idx="1"/>
          </p:cNvCxnSpPr>
          <p:nvPr/>
        </p:nvCxnSpPr>
        <p:spPr>
          <a:xfrm flipH="1">
            <a:off x="9349105" y="5082540"/>
            <a:ext cx="433070" cy="250825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6040" y="160020"/>
            <a:ext cx="2979420" cy="92202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zh-CN">
                <a:solidFill>
                  <a:schemeClr val="tx1"/>
                </a:solidFill>
                <a:sym typeface="+mn-ea"/>
              </a:rPr>
              <a:t>在收实验的课题组可以去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github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后台更新自己的</a:t>
            </a:r>
            <a:r>
              <a:rPr lang="zh-CN">
                <a:solidFill>
                  <a:schemeClr val="tx1"/>
                </a:solidFill>
                <a:sym typeface="+mn-ea"/>
              </a:rPr>
              <a:t>公告（如何更新见下一页）</a:t>
            </a:r>
            <a:endParaRPr 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1540510" y="1069975"/>
            <a:ext cx="1412875" cy="52197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855" y="0"/>
            <a:ext cx="11718290" cy="6858000"/>
          </a:xfrm>
          <a:prstGeom prst="rect">
            <a:avLst/>
          </a:prstGeom>
        </p:spPr>
      </p:pic>
      <p:cxnSp>
        <p:nvCxnSpPr>
          <p:cNvPr id="9" name="直接箭头连接符 8"/>
          <p:cNvCxnSpPr>
            <a:stCxn id="12" idx="1"/>
          </p:cNvCxnSpPr>
          <p:nvPr/>
        </p:nvCxnSpPr>
        <p:spPr>
          <a:xfrm flipH="1">
            <a:off x="8723630" y="2589530"/>
            <a:ext cx="493395" cy="12446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713355" y="2319020"/>
            <a:ext cx="7833995" cy="164528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217025" y="2128520"/>
            <a:ext cx="2004060" cy="92202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chemeClr val="tx1"/>
                </a:solidFill>
                <a:sym typeface="+mn-ea"/>
              </a:rPr>
              <a:t>3.</a:t>
            </a:r>
            <a:r>
              <a:rPr lang="zh-CN">
                <a:solidFill>
                  <a:schemeClr val="tx1"/>
                </a:solidFill>
                <a:sym typeface="+mn-ea"/>
              </a:rPr>
              <a:t>改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line59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这几行，想写啥直接写上去就行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66670" y="83185"/>
            <a:ext cx="3039745" cy="22034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510020" y="303530"/>
            <a:ext cx="2213610" cy="36830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chemeClr val="tx1"/>
                </a:solidFill>
                <a:sym typeface="+mn-ea"/>
              </a:rPr>
              <a:t>1.</a:t>
            </a:r>
            <a:r>
              <a:rPr lang="zh-CN">
                <a:solidFill>
                  <a:schemeClr val="tx1"/>
                </a:solidFill>
                <a:sym typeface="+mn-ea"/>
              </a:rPr>
              <a:t>找这个页面点进来</a:t>
            </a:r>
            <a:endParaRPr 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0" name="直接箭头连接符 9"/>
          <p:cNvCxnSpPr>
            <a:stCxn id="8" idx="1"/>
          </p:cNvCxnSpPr>
          <p:nvPr/>
        </p:nvCxnSpPr>
        <p:spPr>
          <a:xfrm flipH="1" flipV="1">
            <a:off x="5607685" y="342265"/>
            <a:ext cx="902335" cy="145415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0947400" y="342265"/>
            <a:ext cx="531495" cy="22034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705340" y="978535"/>
            <a:ext cx="1616710" cy="36830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chemeClr val="tx1"/>
                </a:solidFill>
                <a:sym typeface="+mn-ea"/>
              </a:rPr>
              <a:t>2.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点这里编辑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4" name="直接箭头连接符 13"/>
          <p:cNvCxnSpPr>
            <a:endCxn id="11" idx="2"/>
          </p:cNvCxnSpPr>
          <p:nvPr/>
        </p:nvCxnSpPr>
        <p:spPr>
          <a:xfrm flipV="1">
            <a:off x="10547350" y="562610"/>
            <a:ext cx="666115" cy="415925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课题组预约建议：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400"/>
              <a:t>发布链接前，主试需要先确认自己使用的实验间是否已被预约，然后去被试专用预约的页面，</a:t>
            </a:r>
            <a:r>
              <a:rPr lang="zh-CN" altLang="en-US" sz="2400">
                <a:highlight>
                  <a:srgbClr val="FFFF00"/>
                </a:highlight>
              </a:rPr>
              <a:t>手动</a:t>
            </a:r>
            <a:r>
              <a:rPr lang="zh-CN" altLang="en-US" sz="2400"/>
              <a:t>点掉已被预约的时段</a:t>
            </a:r>
            <a:endParaRPr lang="zh-CN" altLang="en-US" sz="2400"/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400"/>
              <a:t>需要提前至少一天预定</a:t>
            </a:r>
            <a:endParaRPr lang="zh-CN" altLang="en-US" sz="2400"/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400"/>
              <a:t>有实验的主试可以前一天查看被试自主预约情况，登录</a:t>
            </a:r>
            <a:r>
              <a:rPr lang="en-US" altLang="zh-CN" sz="2400"/>
              <a:t>supabase</a:t>
            </a:r>
            <a:r>
              <a:rPr lang="zh-CN" altLang="en-US" sz="2400"/>
              <a:t>及预约网站填写预约信息，以防别人占位（尤其是咱们几个同时有实验的时候！！！）</a:t>
            </a:r>
            <a:endParaRPr lang="zh-CN" altLang="en-US" sz="2400"/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400"/>
              <a:t>预约信息里面被试电话，有问题可以打电话</a:t>
            </a:r>
            <a:endParaRPr lang="zh-CN" altLang="en-US" sz="2400"/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400"/>
              <a:t>最后，虽然前台理论上只能看见谁预约了哪个时段，但毕竟预约中含有个人信息，所以</a:t>
            </a:r>
            <a:r>
              <a:rPr lang="zh-CN" altLang="en-US" sz="2400">
                <a:highlight>
                  <a:srgbClr val="FFFF00"/>
                </a:highlight>
              </a:rPr>
              <a:t>【请登录</a:t>
            </a:r>
            <a:r>
              <a:rPr lang="en-US" altLang="zh-CN" sz="2400">
                <a:highlight>
                  <a:srgbClr val="FFFF00"/>
                </a:highlight>
              </a:rPr>
              <a:t>supabase</a:t>
            </a:r>
            <a:r>
              <a:rPr lang="zh-CN" altLang="en-US" sz="2400">
                <a:highlight>
                  <a:srgbClr val="FFFF00"/>
                </a:highlight>
              </a:rPr>
              <a:t>及时删掉已完成的预约】</a:t>
            </a:r>
            <a:r>
              <a:rPr lang="zh-CN" altLang="en-US" sz="2400"/>
              <a:t>（我不会写过期自动删除，对不起</a:t>
            </a:r>
            <a:r>
              <a:rPr lang="en-US" altLang="zh-CN" sz="2400"/>
              <a:t> :(……</a:t>
            </a:r>
            <a:r>
              <a:rPr lang="zh-CN" altLang="en-US" sz="2400"/>
              <a:t>）</a:t>
            </a:r>
            <a:endParaRPr lang="zh-CN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878205"/>
            <a:ext cx="10515600" cy="5101590"/>
          </a:xfrm>
        </p:spPr>
        <p:txBody>
          <a:bodyPr/>
          <a:p>
            <a:r>
              <a:rPr lang="zh-CN" altLang="en-US" sz="7200" b="1">
                <a:solidFill>
                  <a:srgbClr val="FF0000"/>
                </a:solidFill>
                <a:sym typeface="+mn-ea"/>
              </a:rPr>
              <a:t>不要动</a:t>
            </a:r>
            <a:r>
              <a:rPr lang="en-US" altLang="zh-CN" sz="7200" b="1">
                <a:solidFill>
                  <a:srgbClr val="FF0000"/>
                </a:solidFill>
                <a:sym typeface="+mn-ea"/>
              </a:rPr>
              <a:t>booking-</a:t>
            </a:r>
            <a:r>
              <a:rPr lang="zh-CN" altLang="en-US" sz="7200" b="1">
                <a:solidFill>
                  <a:srgbClr val="FF0000"/>
                </a:solidFill>
                <a:sym typeface="+mn-ea"/>
              </a:rPr>
              <a:t>后面带房间号的</a:t>
            </a:r>
            <a:r>
              <a:rPr lang="en-US" altLang="zh-CN" sz="7200" b="1">
                <a:solidFill>
                  <a:srgbClr val="FF0000"/>
                </a:solidFill>
                <a:sym typeface="+mn-ea"/>
              </a:rPr>
              <a:t>table</a:t>
            </a:r>
            <a:r>
              <a:rPr lang="zh-CN" altLang="en-US" sz="7200" b="1">
                <a:solidFill>
                  <a:srgbClr val="FF0000"/>
                </a:solidFill>
                <a:sym typeface="+mn-ea"/>
              </a:rPr>
              <a:t>！！！</a:t>
            </a:r>
            <a:endParaRPr lang="zh-CN" altLang="en-US" sz="7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Supabase</a:t>
            </a:r>
            <a:r>
              <a:rPr lang="zh-CN" altLang="en-US"/>
              <a:t>登录及使用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2300"/>
              <a:t>直接使用</a:t>
            </a:r>
            <a:r>
              <a:rPr lang="en-US" altLang="zh-CN" sz="2300"/>
              <a:t>github</a:t>
            </a:r>
            <a:r>
              <a:rPr lang="zh-CN" altLang="en-US" sz="2300"/>
              <a:t>账号登录；使用用户名、密码的话，应该和群里发的那个一样</a:t>
            </a:r>
            <a:endParaRPr lang="zh-CN" altLang="en-US" sz="2300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2300"/>
              <a:t>只有一个</a:t>
            </a:r>
            <a:r>
              <a:rPr lang="en-US" altLang="zh-CN" sz="2300"/>
              <a:t>project</a:t>
            </a:r>
            <a:r>
              <a:rPr lang="zh-CN" altLang="en-US" sz="2300"/>
              <a:t>，里面两个</a:t>
            </a:r>
            <a:r>
              <a:rPr lang="en-US" altLang="zh-CN" sz="2300"/>
              <a:t>tables</a:t>
            </a:r>
            <a:r>
              <a:rPr lang="zh-CN" altLang="en-US" sz="2300"/>
              <a:t>：</a:t>
            </a:r>
            <a:endParaRPr lang="zh-CN" altLang="en-US" sz="2300"/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CN" sz="2300" b="1">
                <a:solidFill>
                  <a:srgbClr val="FF0000"/>
                </a:solidFill>
              </a:rPr>
              <a:t>booking-</a:t>
            </a:r>
            <a:r>
              <a:rPr lang="zh-CN" altLang="en-US" sz="2300" b="1">
                <a:solidFill>
                  <a:srgbClr val="FF0000"/>
                </a:solidFill>
              </a:rPr>
              <a:t>后面带房间号的</a:t>
            </a:r>
            <a:r>
              <a:rPr lang="en-US" altLang="zh-CN" sz="2300" b="1">
                <a:solidFill>
                  <a:srgbClr val="FF0000"/>
                </a:solidFill>
              </a:rPr>
              <a:t>table</a:t>
            </a:r>
            <a:r>
              <a:rPr lang="zh-CN" altLang="en-US" sz="2300" b="1">
                <a:solidFill>
                  <a:srgbClr val="FF0000"/>
                </a:solidFill>
              </a:rPr>
              <a:t>不要动！！！</a:t>
            </a:r>
            <a:r>
              <a:rPr lang="zh-CN" altLang="en-US" sz="2300"/>
              <a:t>这个是咱们自己正式的预约记录，实验员可以定期下载；</a:t>
            </a:r>
            <a:endParaRPr lang="zh-CN" altLang="en-US" sz="2300"/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zh-CN" sz="2300">
                <a:highlight>
                  <a:srgbClr val="FFFF00"/>
                </a:highlight>
              </a:rPr>
              <a:t>booking-sharing</a:t>
            </a:r>
            <a:r>
              <a:rPr lang="zh-CN" altLang="en-US" sz="2300"/>
              <a:t>这个是各课题组的被试专用预约</a:t>
            </a:r>
            <a:r>
              <a:rPr lang="en-US" altLang="zh-CN" sz="2300"/>
              <a:t>table</a:t>
            </a:r>
            <a:r>
              <a:rPr lang="zh-CN" altLang="en-US" sz="2300"/>
              <a:t>，有课题组（</a:t>
            </a:r>
            <a:r>
              <a:rPr lang="en-US" altLang="zh-CN" sz="2300">
                <a:highlight>
                  <a:srgbClr val="FFFF00"/>
                </a:highlight>
              </a:rPr>
              <a:t>group</a:t>
            </a:r>
            <a:r>
              <a:rPr lang="zh-CN" altLang="en-US" sz="2300"/>
              <a:t>）那一项，找到你的被试，删数据，</a:t>
            </a:r>
            <a:r>
              <a:rPr lang="zh-CN" altLang="en-US" sz="2300" b="1"/>
              <a:t>不要直接把</a:t>
            </a:r>
            <a:r>
              <a:rPr lang="en-US" altLang="zh-CN" sz="2300" b="1"/>
              <a:t>table</a:t>
            </a:r>
            <a:r>
              <a:rPr lang="zh-CN" altLang="en-US" sz="2300" b="1"/>
              <a:t>删了</a:t>
            </a:r>
            <a:endParaRPr lang="zh-CN" altLang="en-US" sz="2300" b="1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2300"/>
              <a:t>直接右键点删除，删除多行可多选，最上面有个</a:t>
            </a:r>
            <a:r>
              <a:rPr lang="en-US" altLang="zh-CN" sz="2300"/>
              <a:t> </a:t>
            </a:r>
            <a:r>
              <a:rPr lang="en-US" altLang="zh-CN" sz="2300" b="1" i="1"/>
              <a:t>delete X rows</a:t>
            </a:r>
            <a:endParaRPr lang="en-US" altLang="zh-CN" sz="2300" b="1"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" y="0"/>
            <a:ext cx="11725275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1270" y="86995"/>
            <a:ext cx="7828280" cy="854710"/>
          </a:xfrm>
        </p:spPr>
        <p:txBody>
          <a:bodyPr>
            <a:normAutofit/>
          </a:bodyPr>
          <a:p>
            <a:r>
              <a:rPr lang="zh-CN" altLang="en-US" sz="3600" b="1">
                <a:solidFill>
                  <a:srgbClr val="FF0000"/>
                </a:solidFill>
              </a:rPr>
              <a:t>不要动</a:t>
            </a:r>
            <a:r>
              <a:rPr lang="en-US" altLang="zh-CN" sz="3600" b="1">
                <a:solidFill>
                  <a:srgbClr val="FF0000"/>
                </a:solidFill>
              </a:rPr>
              <a:t>booking-room NO.</a:t>
            </a:r>
            <a:r>
              <a:rPr lang="zh-CN" altLang="en-US" sz="3600" b="1">
                <a:solidFill>
                  <a:srgbClr val="FF0000"/>
                </a:solidFill>
              </a:rPr>
              <a:t>的</a:t>
            </a:r>
            <a:r>
              <a:rPr lang="en-US" altLang="zh-CN" sz="3600" b="1">
                <a:solidFill>
                  <a:srgbClr val="FF0000"/>
                </a:solidFill>
              </a:rPr>
              <a:t>table</a:t>
            </a:r>
            <a:r>
              <a:rPr lang="zh-CN" altLang="en-US" sz="3600" b="1">
                <a:solidFill>
                  <a:srgbClr val="FF0000"/>
                </a:solidFill>
              </a:rPr>
              <a:t>！！！</a:t>
            </a:r>
            <a:endParaRPr lang="zh-CN" altLang="en-US" sz="3600" b="1">
              <a:solidFill>
                <a:srgbClr val="FF000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1292225" y="3124835"/>
            <a:ext cx="101600" cy="70358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01650" y="3828415"/>
            <a:ext cx="1826260" cy="413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2"/>
                </a:solidFill>
              </a:rPr>
              <a:t>1. </a:t>
            </a:r>
            <a:r>
              <a:rPr lang="zh-CN">
                <a:solidFill>
                  <a:schemeClr val="accent2"/>
                </a:solidFill>
              </a:rPr>
              <a:t>点这个</a:t>
            </a:r>
            <a:endParaRPr lang="zh-CN">
              <a:solidFill>
                <a:schemeClr val="accent2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5155" y="1561465"/>
            <a:ext cx="1953895" cy="1350010"/>
          </a:xfrm>
          <a:prstGeom prst="rect">
            <a:avLst/>
          </a:prstGeom>
          <a:solidFill>
            <a:srgbClr val="C00000">
              <a:alpha val="34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1720215" y="1232535"/>
            <a:ext cx="0" cy="325120"/>
          </a:xfrm>
          <a:prstGeom prst="straightConnector1">
            <a:avLst/>
          </a:prstGeom>
          <a:ln w="3175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11530" y="870585"/>
            <a:ext cx="1826260" cy="3619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5"/>
            </a:solidFill>
          </a:ln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不要动这些！！！</a:t>
            </a:r>
            <a:endParaRPr lang="zh-CN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cxnSp>
        <p:nvCxnSpPr>
          <p:cNvPr id="12" name="直接箭头连接符 11"/>
          <p:cNvCxnSpPr>
            <a:stCxn id="13" idx="0"/>
          </p:cNvCxnSpPr>
          <p:nvPr/>
        </p:nvCxnSpPr>
        <p:spPr>
          <a:xfrm flipH="1" flipV="1">
            <a:off x="10108565" y="3923665"/>
            <a:ext cx="171450" cy="40894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043670" y="4332605"/>
            <a:ext cx="2472690" cy="426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2"/>
                </a:solidFill>
              </a:rPr>
              <a:t>2. </a:t>
            </a:r>
            <a:r>
              <a:rPr lang="zh-CN" altLang="en-US">
                <a:solidFill>
                  <a:schemeClr val="accent2"/>
                </a:solidFill>
              </a:rPr>
              <a:t>找到你自己的课题组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2345055" y="3923665"/>
            <a:ext cx="512445" cy="478155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>
            <a:endCxn id="15" idx="5"/>
          </p:cNvCxnSpPr>
          <p:nvPr/>
        </p:nvCxnSpPr>
        <p:spPr>
          <a:xfrm flipH="1" flipV="1">
            <a:off x="2782570" y="4331970"/>
            <a:ext cx="156845" cy="33782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939415" y="4669790"/>
            <a:ext cx="3225165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2"/>
                </a:solidFill>
              </a:rPr>
              <a:t>3. </a:t>
            </a:r>
            <a:r>
              <a:rPr lang="zh-CN" altLang="en-US">
                <a:solidFill>
                  <a:schemeClr val="accent2"/>
                </a:solidFill>
              </a:rPr>
              <a:t>批量删除可勾选你想删除的被试们，最上面会出现</a:t>
            </a:r>
            <a:r>
              <a:rPr lang="en-US" altLang="zh-CN">
                <a:solidFill>
                  <a:schemeClr val="accent5"/>
                </a:solidFill>
              </a:rPr>
              <a:t>delete X rows</a:t>
            </a:r>
            <a:r>
              <a:rPr lang="zh-CN" altLang="en-US">
                <a:solidFill>
                  <a:schemeClr val="accent2"/>
                </a:solidFill>
              </a:rPr>
              <a:t>，点击即可批量删除</a:t>
            </a:r>
            <a:endParaRPr lang="zh-CN" altLang="en-US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1440</Words>
  <Application>WPS 演示</Application>
  <PresentationFormat>宽屏</PresentationFormat>
  <Paragraphs>91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预约系统使用手册</vt:lpstr>
      <vt:lpstr>PowerPoint 演示文稿</vt:lpstr>
      <vt:lpstr>PowerPoint 演示文稿</vt:lpstr>
      <vt:lpstr>PowerPoint 演示文稿</vt:lpstr>
      <vt:lpstr>如何招募被试</vt:lpstr>
      <vt:lpstr>自助预约系统的二维码，不是咱网站的，可以给被试</vt:lpstr>
      <vt:lpstr>PowerPoint 演示文稿</vt:lpstr>
      <vt:lpstr>PowerPoint 演示文稿</vt:lpstr>
      <vt:lpstr>PowerPoint 演示文稿</vt:lpstr>
      <vt:lpstr>PowerPoint 演示文稿</vt:lpstr>
      <vt:lpstr>预约规则：</vt:lpstr>
      <vt:lpstr>不要动booking-后面带房间号的table！！！</vt:lpstr>
      <vt:lpstr>Supabase登录及使用</vt:lpstr>
      <vt:lpstr>Supabase，不要动booking-room NO.的table！！！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VCN-Lab</dc:creator>
  <cp:lastModifiedBy>SHANG Linlin</cp:lastModifiedBy>
  <cp:revision>88</cp:revision>
  <dcterms:created xsi:type="dcterms:W3CDTF">2023-08-09T12:44:00Z</dcterms:created>
  <dcterms:modified xsi:type="dcterms:W3CDTF">2026-05-14T08:09:26Z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0B0AC5A4545248DBB59B2AE256995354_12</vt:lpwstr>
  </property>
</Properties>
</file>